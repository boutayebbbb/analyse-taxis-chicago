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5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6956" y="1234440"/>
            <a:ext cx="112471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rPr lang="en-US" dirty="0" err="1"/>
              <a:t>Projet</a:t>
            </a:r>
            <a:r>
              <a:rPr lang="en-US" dirty="0"/>
              <a:t>: </a:t>
            </a:r>
            <a:r>
              <a:rPr dirty="0" err="1"/>
              <a:t>Analyse</a:t>
            </a:r>
            <a:r>
              <a:rPr dirty="0"/>
              <a:t> des Courses de Taxi</a:t>
            </a:r>
            <a:endParaRPr lang="en-US" dirty="0"/>
          </a:p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rPr lang="fr-FR" sz="2400" dirty="0"/>
              <a:t>à Chicago — Illinois, États-Unis (2013–2023)</a:t>
            </a:r>
          </a:p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73935" y="2689890"/>
            <a:ext cx="113306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rPr lang="fr-FR" sz="1600" dirty="0">
                <a:solidFill>
                  <a:schemeClr val="bg1"/>
                </a:solidFill>
              </a:rPr>
              <a:t>Ingénierie des Systèmes d'Information &amp; Intelligence Artificielle.</a:t>
            </a:r>
            <a:endParaRPr lang="en-US" sz="1600" dirty="0">
              <a:solidFill>
                <a:schemeClr val="bg1"/>
              </a:solidFill>
            </a:endParaRPr>
          </a:p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rPr dirty="0" err="1">
                <a:solidFill>
                  <a:schemeClr val="bg1"/>
                </a:solidFill>
              </a:rPr>
              <a:t>Analyse</a:t>
            </a:r>
            <a:r>
              <a:rPr dirty="0">
                <a:solidFill>
                  <a:schemeClr val="bg1"/>
                </a:solidFill>
              </a:rPr>
              <a:t> de </a:t>
            </a:r>
            <a:r>
              <a:rPr lang="fr-FR" dirty="0">
                <a:solidFill>
                  <a:schemeClr val="bg1"/>
                </a:solidFill>
              </a:rPr>
              <a:t>Données</a:t>
            </a:r>
            <a:r>
              <a:rPr dirty="0">
                <a:solidFill>
                  <a:schemeClr val="bg1"/>
                </a:solidFill>
              </a:rPr>
              <a:t> — ESISA  |  2025–2026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2103120" cy="1005840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~976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51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DEFB"/>
                </a:solidFill>
                <a:latin typeface="Calibri"/>
              </a:defRPr>
            </a:pPr>
            <a:r>
              <a:t>courses analysées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3657600"/>
            <a:ext cx="2103120" cy="1005840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2013–2023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4251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DEFB"/>
                </a:solidFill>
                <a:latin typeface="Calibri"/>
              </a:defRPr>
            </a:pPr>
            <a:r>
              <a:t>période couverte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657600"/>
            <a:ext cx="2103120" cy="1005840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251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DEFB"/>
                </a:solidFill>
                <a:latin typeface="Calibri"/>
              </a:defRPr>
            </a:pPr>
            <a:r>
              <a:t>statistiques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3657600"/>
            <a:ext cx="2103120" cy="1005840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975 939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251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DEFB"/>
                </a:solidFill>
                <a:latin typeface="Calibri"/>
              </a:defRPr>
            </a:pPr>
            <a:r>
              <a:t>courses nettoyées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44771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CAF9"/>
                </a:solidFill>
                <a:latin typeface="Calibri"/>
              </a:defRPr>
            </a:pPr>
            <a:r>
              <a:rPr lang="fr-FR" sz="1600" b="1" dirty="0">
                <a:solidFill>
                  <a:schemeClr val="bg1"/>
                </a:solidFill>
              </a:rPr>
              <a:t>   Réalisé</a:t>
            </a:r>
            <a:r>
              <a:rPr sz="1600" b="1" dirty="0">
                <a:solidFill>
                  <a:schemeClr val="bg1"/>
                </a:solidFill>
              </a:rPr>
              <a:t> par : </a:t>
            </a:r>
            <a:r>
              <a:rPr lang="de-DE" sz="1600" b="1" dirty="0">
                <a:solidFill>
                  <a:schemeClr val="bg1"/>
                </a:solidFill>
              </a:rPr>
              <a:t> </a:t>
            </a:r>
            <a:r>
              <a:rPr sz="1600" b="1" dirty="0">
                <a:solidFill>
                  <a:schemeClr val="bg1"/>
                </a:solidFill>
              </a:rPr>
              <a:t>B</a:t>
            </a:r>
            <a:r>
              <a:rPr lang="de-DE" sz="1600" b="1" dirty="0">
                <a:solidFill>
                  <a:schemeClr val="bg1"/>
                </a:solidFill>
              </a:rPr>
              <a:t>OUTAYEB</a:t>
            </a:r>
            <a:r>
              <a:rPr sz="1600" b="1" dirty="0">
                <a:solidFill>
                  <a:schemeClr val="bg1"/>
                </a:solidFill>
              </a:rPr>
              <a:t> Marouane  </a:t>
            </a:r>
            <a:endParaRPr lang="de-DE" sz="1600" b="1" dirty="0">
              <a:solidFill>
                <a:schemeClr val="bg1"/>
              </a:solidFill>
            </a:endParaRPr>
          </a:p>
          <a:p>
            <a:pPr lvl="3" algn="ctr">
              <a:defRPr sz="1300" b="0">
                <a:solidFill>
                  <a:srgbClr val="90CAF9"/>
                </a:solidFill>
                <a:latin typeface="Calibri"/>
              </a:defRPr>
            </a:pPr>
            <a:r>
              <a:rPr lang="fr-FR" sz="1600" b="1" dirty="0">
                <a:solidFill>
                  <a:schemeClr val="bg1"/>
                </a:solidFill>
              </a:rPr>
              <a:t>BELFAKIR </a:t>
            </a:r>
            <a:r>
              <a:rPr lang="fr-FR" sz="1600" b="1" dirty="0" err="1">
                <a:solidFill>
                  <a:schemeClr val="bg1"/>
                </a:solidFill>
              </a:rPr>
              <a:t>Abdelfettah</a:t>
            </a:r>
            <a:endParaRPr lang="fr-FR" sz="1600" b="1" dirty="0">
              <a:solidFill>
                <a:schemeClr val="bg1"/>
              </a:solidFill>
            </a:endParaRPr>
          </a:p>
          <a:p>
            <a:pPr lvl="3" algn="ctr">
              <a:defRPr sz="1300" b="0">
                <a:solidFill>
                  <a:srgbClr val="90CAF9"/>
                </a:solidFill>
                <a:latin typeface="Calibri"/>
              </a:defRPr>
            </a:pPr>
            <a:r>
              <a:rPr lang="fr-FR" sz="1600" b="1" dirty="0">
                <a:solidFill>
                  <a:schemeClr val="bg1"/>
                </a:solidFill>
              </a:rPr>
              <a:t>ES-SAIDI Anass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1247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B5F6"/>
                </a:solidFill>
                <a:latin typeface="Calibri"/>
              </a:defRPr>
            </a:pPr>
            <a:r>
              <a:rPr sz="1200" dirty="0">
                <a:solidFill>
                  <a:schemeClr val="bg1"/>
                </a:solidFill>
              </a:rPr>
              <a:t>Source : data.cityofchicago.org — Taxi Trips  (ID: </a:t>
            </a:r>
            <a:r>
              <a:rPr sz="1200" dirty="0" err="1">
                <a:solidFill>
                  <a:schemeClr val="bg1"/>
                </a:solidFill>
              </a:rPr>
              <a:t>wrvz-psew</a:t>
            </a:r>
            <a:r>
              <a:rPr sz="12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1742"/>
            <a:ext cx="1493297" cy="851623"/>
          </a:xfrm>
          <a:prstGeom prst="rect">
            <a:avLst/>
          </a:prstGeom>
        </p:spPr>
      </p:pic>
      <p:sp>
        <p:nvSpPr>
          <p:cNvPr id="21" name="ZoneTexte 20"/>
          <p:cNvSpPr txBox="1"/>
          <p:nvPr/>
        </p:nvSpPr>
        <p:spPr>
          <a:xfrm>
            <a:off x="2141882" y="270801"/>
            <a:ext cx="92334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École Supérieure d'Ingénierie en Sciences Appliquées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3200" b="1" dirty="0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779" y="199937"/>
            <a:ext cx="1493297" cy="85162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1082859-FB1E-5921-889B-80F9095DF01C}"/>
              </a:ext>
            </a:extLst>
          </p:cNvPr>
          <p:cNvSpPr txBox="1"/>
          <p:nvPr/>
        </p:nvSpPr>
        <p:spPr>
          <a:xfrm>
            <a:off x="6768828" y="5029200"/>
            <a:ext cx="4606506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0">
                <a:solidFill>
                  <a:srgbClr val="90CAF9"/>
                </a:solidFill>
                <a:latin typeface="Calibri"/>
              </a:defRPr>
            </a:pPr>
            <a:r>
              <a:rPr lang="fr-FR" sz="1600" b="1" dirty="0">
                <a:solidFill>
                  <a:schemeClr val="bg1"/>
                </a:solidFill>
              </a:rPr>
              <a:t>Encadré  par : Pr. HDIOUD </a:t>
            </a:r>
            <a:r>
              <a:rPr lang="fr-FR" sz="1600" b="1" dirty="0" err="1">
                <a:solidFill>
                  <a:schemeClr val="bg1"/>
                </a:solidFill>
              </a:rPr>
              <a:t>Ferdaous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>
              <a:defRPr sz="1300" b="0">
                <a:solidFill>
                  <a:srgbClr val="90CAF9"/>
                </a:solidFill>
                <a:latin typeface="Calibri"/>
              </a:defRPr>
            </a:pPr>
            <a:endParaRPr lang="fr-FR" b="1" dirty="0">
              <a:solidFill>
                <a:schemeClr val="bg1"/>
              </a:solidFill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Plan de la Présentation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50292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4173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Présentation du dataset &amp; collecte des données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57400"/>
            <a:ext cx="50292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Prétraitement : nettoyage, IQR×3, split temporel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743200"/>
            <a:ext cx="50292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88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Statistiques descriptives &amp; evolution annuelle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429000"/>
            <a:ext cx="50292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Q1 — Test t de Student sur P, D et L (2021 vs 2013–2020)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114800"/>
            <a:ext cx="50292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4160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160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Q2 — Corrélation de Pearson &amp; Régression linéaire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800600"/>
            <a:ext cx="50292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48463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Q3 — Plages horaires, ANOVA &amp; test post-hoc de Bonferroni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486400"/>
            <a:ext cx="50292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55321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532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Conclusion &amp; synthèse des résultats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Présentation du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Source des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Portail officiel : data.cityofchicago.org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Dataset : Taxi Trips (ID: wrvz-psew)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Période : 2013 –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Volume original : &gt; 20 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rPr dirty="0"/>
              <a:t>Variables </a:t>
            </a:r>
            <a:r>
              <a:rPr dirty="0" err="1"/>
              <a:t>retenues</a:t>
            </a:r>
            <a:r>
              <a:rPr dirty="0"/>
              <a:t> (</a:t>
            </a:r>
            <a:r>
              <a:rPr lang="de-DE"/>
              <a:t>3</a:t>
            </a:r>
            <a:r>
              <a:t> </a:t>
            </a:r>
            <a:r>
              <a:rPr dirty="0" err="1"/>
              <a:t>colonnes</a:t>
            </a:r>
            <a:r>
              <a:rPr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trip_total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Prix total ($)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trip_seconds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Durée (s)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trip_miles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Distance (miles)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3 Questions Statistiques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828800"/>
            <a:ext cx="457200" cy="4114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8562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856231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Test t — La moyenne de P, D et L change-t-elle en 2021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834640"/>
            <a:ext cx="457200" cy="4114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28620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862072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Corrélation &amp; Régression — P en fonction de L et 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3840480"/>
            <a:ext cx="457200" cy="4114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3867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867912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ANOVA + Post-hoc — Plage de pointe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Collecte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Contraintes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Taille originale &gt; 20 Go (données complètes)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Erreurs Timeout fréquentes avec l'API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Limitations mémoire et stockage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Temps de téléchargement excessifs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Solution : Échantillonnage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~108 000 trajets aléatoires par année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11 fichiers CSV : 2013.csv ... 2023.csv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Taille totale : ~90 MB (vs 20 Go original)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Représentativité statistique préservée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371600"/>
            <a:ext cx="21031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1508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fichiers CSV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371600"/>
            <a:ext cx="21031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1508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~108K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lignes/année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560320"/>
            <a:ext cx="21031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26974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1 177 937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546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lignes brutes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560320"/>
            <a:ext cx="21031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26974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~90 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1546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taille totale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Prétraitement des Données —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54864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298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Fusion des 11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4591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11 fichiers → chicago_taxi_raw.csv | Conversion décimale virgule→point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54864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402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12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Invalides &amp; plausibilité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5603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P≤0, D≤0, L≤0 : −180 216  |  P&lt;3,25 $, D&lt;60 s, L&lt;0,1 mi, &gt;80 mph : −15 257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54864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546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127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Outliers IQR ×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4747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Conserver Q1−3·IQR ≤ X ≤ Q3+3·IQR sur P, D, L  →  −6 525 lignes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54864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041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Variables dérivées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389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Calcul : hour, time_slot (0–5), time_slot_label, trip_minutes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937760"/>
            <a:ext cx="54864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956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Split temporel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303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Référence : 2013–2020 → 692 502 courses  |  Test : 2021 → 94 792 courses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943600"/>
            <a:ext cx="1033272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989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Résultat : 975 939 courses valides — prêtes pour l'analyse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Statistiques Descriptives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Observations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La moyenne P passe de 29,04 $ → 34,51 $ en 2021  (+5,47 $, +18,8 %)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La durée D passe de 1 452,08 s → 1 536,35 s en 2021  (+84 s, +5,8 %)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La distance L passe de 8,34 → 9,54 miles en 2021  (+1,20 mi, +14,4 %)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Distribution de P asymétrique à droite : médiane (22,50 $) &lt; moyenne (29,04 $)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Distributions des Variables P, D et L</a:t>
            </a:r>
          </a:p>
        </p:txBody>
      </p:sp>
      <p:pic>
        <p:nvPicPr>
          <p:cNvPr id="4" name="Picture 3" descr="fig01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195" y="1188720"/>
            <a:ext cx="890512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Évolution Annuelle du Prix Moyen (2013–2023)</a:t>
            </a:r>
          </a:p>
        </p:txBody>
      </p:sp>
      <p:pic>
        <p:nvPicPr>
          <p:cNvPr id="4" name="Picture 3" descr="fig02_evolution_annue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5678"/>
            <a:ext cx="11247120" cy="47952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Hausse surtout entre 2013 et 2019 ; en 2021 le prix moyen revient au niveau de 2019 (34,87 $ → 34,51 $)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Question 1 — Test t de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  <a:latin typeface="Calibri"/>
              </a:defRPr>
            </a:pPr>
            <a:r>
              <a:t>Test sur les 3 variables : P, D et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Calibri"/>
              </a:defRPr>
            </a:pPr>
            <a:r>
              <a:t>Hypothèses (pour chaque X ∈ {P, D, L})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H0 : μ2021 = μref  (pas de changement significatif)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H1 : μ2021 ≠ μref  (différence significative)  [bilatéral]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Calibri"/>
              </a:defRPr>
            </a:pPr>
            <a:r>
              <a:t>Statistique de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t = (X_bar_test − μref) / (s_test / √n)  ~  t(n − 1)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Calibri"/>
              </a:defRPr>
            </a:pPr>
            <a:r>
              <a:t>Paramètres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Seuil α = 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Référence : 2013–2020  (n = 692 502)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Test : 2021  (n = 94 792)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280160"/>
            <a:ext cx="5029200" cy="47548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Justification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9202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  <a:latin typeface="Calibri"/>
              </a:defRPr>
            </a:pPr>
            <a:r>
              <a:t>Le test t à un échantillon est adapté car :</a:t>
            </a:r>
            <a:br/>
            <a:br/>
            <a:r>
              <a:t>• La moyenne de référence μ0 est calculée sur 2013–2020 (692 502 courses) ; vérification par un test de Welch</a:t>
            </a:r>
            <a:br/>
            <a:br/>
            <a:r>
              <a:t>• Le Théorème Central Limite (TCL) garantit la normalité de X_bar pour n &gt; 30</a:t>
            </a:r>
            <a:br/>
            <a:br/>
            <a:r>
              <a:t>• Ici n = 94 792 &gt;&gt; 30, donc la condition est largement satisfaite</a:t>
            </a:r>
            <a:br/>
            <a:br/>
            <a:r>
              <a:t>• Le test est bilatéral car on ne présuppose pas le sens du changement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Q1 — Résultats du Test t de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  <a:latin typeface="Calibri"/>
              </a:defRPr>
            </a:pPr>
            <a:r>
              <a:t>Test sur P, D et L — α = 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5C0"/>
                </a:solidFill>
                <a:latin typeface="Calibri"/>
              </a:defRPr>
            </a:pPr>
            <a:r>
              <a:t>P (Prix, $)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8288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29.04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Moy. réf 2013–2020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600200"/>
            <a:ext cx="18288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34.51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Moy. 2021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600200"/>
            <a:ext cx="16459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+87.05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Stat. 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1600200"/>
            <a:ext cx="16459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≈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p-valeur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600200"/>
            <a:ext cx="2286000" cy="777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 Rejet H0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7D32"/>
                </a:solidFill>
                <a:latin typeface="Calibri"/>
              </a:defRPr>
            </a:pPr>
            <a:r>
              <a:t>+18.8%  (d = 0.28)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651760"/>
            <a:ext cx="1106424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5C0"/>
                </a:solidFill>
                <a:latin typeface="Calibri"/>
              </a:defRPr>
            </a:pPr>
            <a:r>
              <a:t>D (Durée, 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063240"/>
            <a:ext cx="18288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1452.08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Moy. réf 2013–2020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3063240"/>
            <a:ext cx="18288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175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1536.35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Moy. 2021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3063240"/>
            <a:ext cx="16459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2064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+32.47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Stat. 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3063240"/>
            <a:ext cx="16459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≈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p-valeur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3063240"/>
            <a:ext cx="2286000" cy="777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 Rejet H0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7D32"/>
                </a:solidFill>
                <a:latin typeface="Calibri"/>
              </a:defRPr>
            </a:pPr>
            <a:r>
              <a:t>+5.8%  (d = 0.09)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114800"/>
            <a:ext cx="1106424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5C0"/>
                </a:solidFill>
                <a:latin typeface="Calibri"/>
              </a:defRPr>
            </a:pPr>
            <a:r>
              <a:t>L (Distance, mi)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4526280"/>
            <a:ext cx="18288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8.34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Moy. réf 2013–2020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0" y="4526280"/>
            <a:ext cx="18288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01752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9.54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Moy. 2021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20640" y="4526280"/>
            <a:ext cx="16459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20640" y="4663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+55.41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Stat. 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40880" y="4526280"/>
            <a:ext cx="16459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40880" y="4663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≈ 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p-valeur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61120" y="4526280"/>
            <a:ext cx="2286000" cy="777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6112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 Rejet H0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7D32"/>
                </a:solidFill>
                <a:latin typeface="Calibri"/>
              </a:defRPr>
            </a:pPr>
            <a:r>
              <a:t>+14.4%  (d = 0.17)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Écarts significatifs mais effets faibles (d de Cohen ≤ 0.28). Par rapport à 2019 : prix −1,0 %, durée −6,6 % → la hausse vient de la tendance 2013–2019, pas de l'année 2021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Question 2 — Corrélation &amp; Régression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Corrélation de Pearson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r(P,X) = Σ(Pi−P̄)(Xi−X̄) / (σP·σX)</a:t>
            </a:r>
            <a:br/>
            <a:br/>
            <a:r>
              <a:t>Mesure la force de la liaison linéaire</a:t>
            </a:r>
            <a:br/>
            <a:r>
              <a:t>entre P et chaque variable (L, 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188720"/>
            <a:ext cx="347472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Régression simple (MCO)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 = β0 + β1·L + ε</a:t>
            </a:r>
            <a:br/>
            <a:r>
              <a:t>P = β0 + β1·D + ε</a:t>
            </a:r>
            <a:br/>
            <a:br/>
            <a:r>
              <a:t>Estimée par moindres carrés.</a:t>
            </a:r>
            <a:br/>
            <a:r>
              <a:t>R² = variance de P expliquée.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47472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Régression multiple (MCO)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 = β0 + β1·L + β2·D + ε</a:t>
            </a:r>
            <a:br/>
            <a:br/>
            <a:r>
              <a:t>Combine L et D. Le gain</a:t>
            </a:r>
            <a:br/>
            <a:r>
              <a:t>sur R² mesure l'apport de 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Justification : Variables continues avec tendance linéaire visible sur les nuages de points. R² quantifie l'adéquation de chaque modèle.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Q2 — Corrélations de Pearson &amp; Régression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32004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r = 0.8448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r(P, L) — liaison forte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32004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r = 0.7143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r(P, D) — liaison mod.–forte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2004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p ≈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Hautement significatif (n = 975 939)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Modèles MCO (975 939 courses)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1051560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65C0"/>
                </a:solidFill>
                <a:latin typeface="Calibri"/>
              </a:defRPr>
            </a:pPr>
            <a:r>
              <a:t>P ~ 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0632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P̂ = 9.73 + 2.430·L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0632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R² = 0.7137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105156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5204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65C0"/>
                </a:solidFill>
                <a:latin typeface="Calibri"/>
              </a:defRPr>
            </a:pPr>
            <a:r>
              <a:t>P ~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5204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P̂ = 8.12 + 0.015359·D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5204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R² = 0.5102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31920"/>
            <a:ext cx="1051560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977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65C0"/>
                </a:solidFill>
                <a:latin typeface="Calibri"/>
              </a:defRPr>
            </a:pPr>
            <a:r>
              <a:t>P ~ L +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9776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P̂ = 5.45 + 1.902·L + 0.005994·D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R² = 0.7576</a:t>
            </a:r>
          </a:p>
        </p:txBody>
      </p:sp>
      <p:pic>
        <p:nvPicPr>
          <p:cNvPr id="26" name="Picture 25" descr="fig03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910" y="4572000"/>
            <a:ext cx="45777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Q2 — Interprétation des Coefficients et R²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565C0"/>
                </a:solidFill>
                <a:latin typeface="Calibri"/>
              </a:defRPr>
            </a:pPr>
            <a:r>
              <a:t>+1.90 $ / mile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Distance : facteur dominant du prix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565C0"/>
                </a:solidFill>
                <a:latin typeface="Calibri"/>
              </a:defRPr>
            </a:pPr>
            <a:r>
              <a:t>+0.0060 $ /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≈ +0.36 $/min — tarification à l'attente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30352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565C0"/>
                </a:solidFill>
                <a:latin typeface="Calibri"/>
              </a:defRPr>
            </a:pPr>
            <a:r>
              <a:t>5.45 $ fixe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Prise en charge (flag drop) + pourboires/suppléments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34640"/>
            <a:ext cx="530352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971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E7D32"/>
                </a:solidFill>
                <a:latin typeface="Calibri"/>
              </a:defRPr>
            </a:pPr>
            <a:r>
              <a:t>R² = 0.7576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29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75.8% de la variance de P expliquée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47A1"/>
                </a:solidFill>
                <a:latin typeface="Calibri"/>
              </a:defRPr>
            </a:pPr>
            <a:r>
              <a:t>Modèle final :  P̂ = 5.45 + 1.902·L + 0.005994·D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La distance L est le facteur dominant (+1.90 $/mile)</a:t>
            </a:r>
            <a:br/>
            <a:r>
              <a:t>• La durée D capture les embouteillages urbains (+0.0060 $/s ≈ 0.36 $/min)</a:t>
            </a:r>
            <a:br/>
            <a:r>
              <a:t>• L'ajout de D à P~L apporte +4.4 points de R² (0.714 → 0.758)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Question 3 — Plages Horaires, ANOVA &amp; Post-hoc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645920" cy="4114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16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[00h–04h[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188720"/>
            <a:ext cx="1645920" cy="4114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1216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[04h–08h[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1645920" cy="41148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216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[08h–12h[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1645920" cy="41148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16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[12h–16h[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1645920" cy="411480"/>
          </a:xfrm>
          <a:prstGeom prst="round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1216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[16h–20h[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1188720"/>
            <a:ext cx="1645920" cy="411480"/>
          </a:xfrm>
          <a:prstGeom prst="roundRect">
            <a:avLst/>
          </a:prstGeom>
          <a:solidFill>
            <a:srgbClr val="90C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0" y="1216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[20h–00h[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slot = heure // 4   →   6 groupes de 4 heures chacun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377440"/>
            <a:ext cx="5029200" cy="2286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Calibri"/>
              </a:defRPr>
            </a:pPr>
            <a:r>
              <a:t>ANOVA à un facteur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26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H0 : μ1 = μ2 = μ3 = μ4 = μ5 = μ6</a:t>
            </a:r>
            <a:br/>
            <a:r>
              <a:t>H1 : ∃ i≠j tel que μi ≠ μj</a:t>
            </a:r>
            <a:br/>
            <a:br/>
            <a:r>
              <a:t>F = Var. entre groupes / Var. intra groupes</a:t>
            </a:r>
            <a:br/>
            <a:br/>
            <a:r>
              <a:t>Rejet H0 si p &lt; α = 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377440"/>
            <a:ext cx="5029200" cy="228600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5100"/>
                </a:solidFill>
                <a:latin typeface="Calibri"/>
              </a:defRPr>
            </a:pPr>
            <a:r>
              <a:t>Test post-hoc de Bonferroni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15 comparaisons par paires (C(6,2))</a:t>
            </a:r>
            <a:br/>
            <a:br/>
            <a:r>
              <a:t>Correction : α_corr = 0.05 / 15 ≈ 0.0033</a:t>
            </a:r>
            <a:br/>
            <a:br/>
            <a:r>
              <a:t>Identifie QUELLES plages diffèrent</a:t>
            </a:r>
            <a:br/>
            <a:r>
              <a:t>significativement entre elles → plage de pointe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105156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Calibri"/>
              </a:defRPr>
            </a:pPr>
            <a:r>
              <a:t>Corrélation r(P, slot)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Teste la tendance linéaire monotone du prix selon l'heure de la journée. Complète l'ANOVA : direction de la tendance.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Q3 — Résultats par Plage Horaire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32004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F = 1936.64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ANOVA — p ≈ 0  →  Rejet H0  (η² = 0.0098)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32004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r = 0.0320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r(P, slot) — p ≈ 10^−219  Signif.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2004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47A1"/>
                </a:solidFill>
                <a:latin typeface="Calibri"/>
              </a:defRPr>
            </a:pPr>
            <a:r>
              <a:t>26.1%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[16h–20h[ = pic de volume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1051560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[00h-04h[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606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n = 69,750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606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Prix moy. = $24.69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σ = $18.78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17520"/>
            <a:ext cx="105156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0632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[04h-08h[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063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n = 72,008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Prix moy. = $32.32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σ = $19.15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474720"/>
            <a:ext cx="1051560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5204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[08h-12h[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5204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n = 178,403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5204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Prix moy. = $30.72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5204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σ = $20.02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931920"/>
            <a:ext cx="105156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[12h-16h[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977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n = 226,644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Prix moy. = $32.95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σ = $20.03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389120"/>
            <a:ext cx="1051560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[16h-20h[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n = 254,812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Prix moy. = $30.73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σ = $20.05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846320"/>
            <a:ext cx="105156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[20h-00h[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n = 174,322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Prix moy. = $30.38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σ = $20.32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394960"/>
            <a:ext cx="105156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Post-hoc Bonferroni — Résultats clés 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  <a:latin typeface="Calibri"/>
              </a:defRPr>
            </a:pPr>
            <a:r>
              <a:t>• [00h–04h[ diffère significativement de TOUTES les autres plages (p ≈ 0)</a:t>
            </a:r>
            <a:br/>
            <a:r>
              <a:t>• [08h–12h[ et [16h–20h[ ne diffèrent PAS (p_adj = 1) — 14/15 paires significatives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Q3 — Volume et Prix par Plage Horaire</a:t>
            </a:r>
          </a:p>
        </p:txBody>
      </p:sp>
      <p:pic>
        <p:nvPicPr>
          <p:cNvPr id="4" name="Picture 3" descr="fig04_plages_horai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51" y="1188720"/>
            <a:ext cx="1072341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[16h–20h[ : 254 812 courses (26% du total)  |  [00h–04h[ : prix minimal  24,69 $  (nuit)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Q3 — Interprétation de l'ANOVA et du Post-hoc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7E"/>
                </a:solidFill>
                <a:latin typeface="Calibri"/>
              </a:defRPr>
            </a:pPr>
            <a:r>
              <a:t>Nuit [00h–04h[ — prix minimal (24,69 $)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Peu de courses (70K, 7%). Le test post-hoc confirme que cette plage diffère significativement de toutes les autres : le prix nocturne est structurellement plus bas.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5156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[12h–16h[ — prix moyen maximal (32,95 $)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Forte activité diurne. Courses d'affaires, déplacements professionnels et commerciaux expliquent le prix élevé.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105156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[16h–20h[ — volume maximal (254 812 courses)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Heure de pointe du soir (26% du total). Retours domicile-travail. Prix modéré (30,73 $).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199"/>
            <a:ext cx="105156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r(P, slot) = 0,032 — faible tendance linéaire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39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Relation non monotone ; de plus η² = 0,0098 : l'heure explique moins de 1 % de la variance du prix, qui dépend surtout de la distance.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Synthèse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48640" cy="4572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Test t de Student — P, D et 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DEFB"/>
                </a:solidFill>
                <a:latin typeface="Calibri"/>
              </a:defRPr>
            </a:pPr>
            <a:r>
              <a:t>P : t = +87.05, p ≈ 0  →  Rejet H0 (+18.8%)  |  Prix 29.04$ → 34.51$</a:t>
            </a:r>
            <a:br/>
            <a:r>
              <a:t>D : t = +32.47, p ≈ 10^−230  →  Rejet H0 (+5.8%)  |  Durée +84 secondes</a:t>
            </a:r>
            <a:br/>
            <a:r>
              <a:t>L : t = +55.41, p ≈ 0  →  Rejet H0 (+14.4%)  |  Distance +1.20 miles</a:t>
            </a:r>
            <a:br/>
            <a:r>
              <a:t>Effets faibles (d ≤ 0.28) ; vs 2019 : prix -1.0% → tendance de long terme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48640" cy="4572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Corrélation &amp; Régression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91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DEFB"/>
                </a:solidFill>
                <a:latin typeface="Calibri"/>
              </a:defRPr>
            </a:pPr>
            <a:r>
              <a:t>r(P,L) = 0.845  |  r(P,D) = 0.714  |  R² multiple = 0.758</a:t>
            </a:r>
            <a:br/>
            <a:r>
              <a:t>Distance = facteur dominant (+1.90 $/mile). Durée capte les embouteillages (+0.36 $/min)</a:t>
            </a:r>
            <a:br/>
            <a:r>
              <a:t>Modèle : P̂ = 5.45 + 1.902·L + 0.005994·D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48640" cy="4572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4165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ANOVA + Post-hoc — Plages horaires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8463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DEFB"/>
                </a:solidFill>
                <a:latin typeface="Calibri"/>
              </a:defRPr>
            </a:pPr>
            <a:r>
              <a:t>ANOVA : F = 1936.64, p ≈ 0  →  Rejet H0 (η² = 0.0098, effet faible)</a:t>
            </a:r>
            <a:br/>
            <a:r>
              <a:t>Post-hoc Bonferroni : 14/15 paires significatives ; [00h–04h[ diffère de toutes les plages</a:t>
            </a:r>
            <a:br/>
            <a:r>
              <a:t>Plage de pointe (volume) : [16h–20h[ avec 254 812 courses (26%)</a:t>
            </a:r>
            <a:br/>
            <a:r>
              <a:t>Prix maximal : [12h–16h[ (32.95$)  |  Prix minimal : [00h–04h[ (24.69$)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B5F6"/>
                </a:solidFill>
                <a:latin typeface="Calibri"/>
              </a:defRPr>
            </a:pPr>
            <a:r>
              <a:t>Source : data.cityofchicago.org — Taxi Trips (2013–2023)  |  n = 975 939  |  ESISA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2085</Words>
  <Application>Microsoft Office PowerPoint</Application>
  <PresentationFormat>Grand écran</PresentationFormat>
  <Paragraphs>255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 courses de taxi à Chicago</dc:title>
  <dc:subject/>
  <dc:creator>Marouane Boutayeb</dc:creator>
  <cp:keywords/>
  <dc:description>generated using python-pptx</dc:description>
  <cp:lastModifiedBy>Marouane Boutayeb</cp:lastModifiedBy>
  <cp:revision>5</cp:revision>
  <dcterms:created xsi:type="dcterms:W3CDTF">2013-01-27T09:14:16Z</dcterms:created>
  <dcterms:modified xsi:type="dcterms:W3CDTF">2026-05-30T23:40:39Z</dcterms:modified>
  <cp:category/>
</cp:coreProperties>
</file>